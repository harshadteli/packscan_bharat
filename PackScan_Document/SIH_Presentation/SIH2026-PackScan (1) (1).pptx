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C3E6CA-E18C-4B08-AF8B-5DDBAD871B99}">
  <a:tblStyle styleId="{63C3E6CA-E18C-4B08-AF8B-5DDBAD871B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nBGaBDGvxbkIg1fnd4Ko-gy4QT_AGjE5/view" TargetMode="External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75" y="1410325"/>
            <a:ext cx="67560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Problem Statement ID – 26034</a:t>
            </a:r>
            <a:endParaRPr sz="1900"/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Problem Statement Title-Digital Packaged Commodity Compliance &amp; Inspection System</a:t>
            </a:r>
            <a:endParaRPr sz="1900"/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Theme-</a:t>
            </a:r>
            <a:r>
              <a:rPr b="1" i="0" lang="en-US" sz="2100">
                <a:solidFill>
                  <a:srgbClr val="212529"/>
                </a:solidFill>
              </a:rPr>
              <a:t>Ministry of Consumer Affairs, Food &amp; Public Distribution</a:t>
            </a:r>
            <a:endParaRPr b="1" sz="2100">
              <a:solidFill>
                <a:schemeClr val="dk1"/>
              </a:solidFill>
            </a:endParaRPr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PS Category- Software</a:t>
            </a:r>
            <a:endParaRPr sz="1900"/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Team ID-</a:t>
            </a:r>
            <a:endParaRPr sz="1900"/>
          </a:p>
          <a:p>
            <a:pPr indent="-3175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</a:rPr>
              <a:t>Team Name </a:t>
            </a:r>
            <a:r>
              <a:rPr b="1" lang="en-US" sz="2100">
                <a:solidFill>
                  <a:schemeClr val="dk1"/>
                </a:solidFill>
              </a:rPr>
              <a:t>:ThinkNova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1261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Pa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ckScan Bharat-Legal Metrology Compliance Checke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425" y="1063825"/>
            <a:ext cx="6783826" cy="57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5">
            <a:alphaModFix/>
          </a:blip>
          <a:srcRect b="25008" l="0" r="0" t="19504"/>
          <a:stretch/>
        </p:blipFill>
        <p:spPr>
          <a:xfrm>
            <a:off x="183000" y="1150676"/>
            <a:ext cx="5247375" cy="2567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83000" y="4072350"/>
            <a:ext cx="421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70075" y="3923325"/>
            <a:ext cx="5160300" cy="28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Current System Broken :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AutoNum type="arabicPeriod"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Impossible Manual </a:t>
            </a: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Scale</a:t>
            </a: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AutoNum type="arabicPeriod"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90% Human Error.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AutoNum type="arabicPeriod"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No E-commerce Oversight.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AutoNum type="arabicPeriod"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Zero Centralized Data.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AutoNum type="arabicPeriod"/>
            </a:pPr>
            <a:r>
              <a:rPr lang="en-US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Excessive Time &amp; Cost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7" name="Google Shape;107;p14" title="High-End Logo with Geometric 'N' Emblem.png"/>
          <p:cNvPicPr preferRelativeResize="0"/>
          <p:nvPr/>
        </p:nvPicPr>
        <p:blipFill rotWithShape="1">
          <a:blip r:embed="rId6">
            <a:alphaModFix/>
          </a:blip>
          <a:srcRect b="19172" l="0" r="0" t="0"/>
          <a:stretch/>
        </p:blipFill>
        <p:spPr>
          <a:xfrm>
            <a:off x="0" y="-38850"/>
            <a:ext cx="14141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81650" y="-388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700"/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4">
            <a:alphaModFix/>
          </a:blip>
          <a:srcRect b="36265" l="0" r="0" t="28656"/>
          <a:stretch/>
        </p:blipFill>
        <p:spPr>
          <a:xfrm>
            <a:off x="121688" y="983775"/>
            <a:ext cx="11948626" cy="20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 rotWithShape="1">
          <a:blip r:embed="rId5">
            <a:alphaModFix/>
          </a:blip>
          <a:srcRect b="7131" l="0" r="4644" t="78938"/>
          <a:stretch/>
        </p:blipFill>
        <p:spPr>
          <a:xfrm>
            <a:off x="6407925" y="6223000"/>
            <a:ext cx="5840599" cy="49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High-End Logo with Geometric 'N' Emblem.png"/>
          <p:cNvPicPr preferRelativeResize="0"/>
          <p:nvPr/>
        </p:nvPicPr>
        <p:blipFill rotWithShape="1">
          <a:blip r:embed="rId6">
            <a:alphaModFix/>
          </a:blip>
          <a:srcRect b="25893" l="0" r="0" t="0"/>
          <a:stretch/>
        </p:blipFill>
        <p:spPr>
          <a:xfrm>
            <a:off x="207375" y="1526"/>
            <a:ext cx="1361375" cy="9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2871975" y="3643625"/>
            <a:ext cx="2785200" cy="2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207375" y="3068600"/>
            <a:ext cx="5840700" cy="3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Technical Stack: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HTML 5</a:t>
            </a:r>
            <a:r>
              <a:rPr lang="en-US">
                <a:solidFill>
                  <a:schemeClr val="dk1"/>
                </a:solidFill>
              </a:rPr>
              <a:t>: Structure &amp; Content (Mobile &amp; Web)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CSS 3</a:t>
            </a:r>
            <a:r>
              <a:rPr lang="en-US">
                <a:solidFill>
                  <a:schemeClr val="dk1"/>
                </a:solidFill>
              </a:rPr>
              <a:t>: Styling &amp; Presentation (Mobile &amp; Web)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JavaScript</a:t>
            </a:r>
            <a:r>
              <a:rPr lang="en-US">
                <a:solidFill>
                  <a:schemeClr val="dk1"/>
                </a:solidFill>
              </a:rPr>
              <a:t>: Interactive Logic (Mobile &amp; Web)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React</a:t>
            </a:r>
            <a:r>
              <a:rPr lang="en-US">
                <a:solidFill>
                  <a:schemeClr val="dk1"/>
                </a:solidFill>
              </a:rPr>
              <a:t>: Web Frontend Framework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Python</a:t>
            </a:r>
            <a:r>
              <a:rPr lang="en-US">
                <a:solidFill>
                  <a:schemeClr val="dk1"/>
                </a:solidFill>
              </a:rPr>
              <a:t>: Backend &amp; Business Logic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Node.js</a:t>
            </a:r>
            <a:r>
              <a:rPr lang="en-US">
                <a:solidFill>
                  <a:schemeClr val="dk1"/>
                </a:solidFill>
              </a:rPr>
              <a:t>: Admin Dashboard Services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PostgreSQL</a:t>
            </a:r>
            <a:r>
              <a:rPr lang="en-US">
                <a:solidFill>
                  <a:schemeClr val="dk1"/>
                </a:solidFill>
              </a:rPr>
              <a:t>: Relational Data Storage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Docker</a:t>
            </a:r>
            <a:r>
              <a:rPr lang="en-US">
                <a:solidFill>
                  <a:schemeClr val="dk1"/>
                </a:solidFill>
              </a:rPr>
              <a:t>: Containerization Platform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Kubernetes</a:t>
            </a:r>
            <a:r>
              <a:rPr lang="en-US">
                <a:solidFill>
                  <a:schemeClr val="dk1"/>
                </a:solidFill>
              </a:rPr>
              <a:t>: Orchestration &amp; Deployment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GEMINI</a:t>
            </a:r>
            <a:r>
              <a:rPr lang="en-US">
                <a:solidFill>
                  <a:schemeClr val="dk1"/>
                </a:solidFill>
              </a:rPr>
              <a:t>: AI/ML Core Engine (Anomaly Detection)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NIC</a:t>
            </a:r>
            <a:r>
              <a:rPr lang="en-US">
                <a:solidFill>
                  <a:schemeClr val="dk1"/>
                </a:solidFill>
              </a:rPr>
              <a:t>: Cloud Infrastructure Partner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INTEGRATED DEPLOYMENT</a:t>
            </a:r>
            <a:r>
              <a:rPr lang="en-US">
                <a:solidFill>
                  <a:schemeClr val="dk1"/>
                </a:solidFill>
              </a:rPr>
              <a:t>: Git/GitHub Version 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15304" t="0"/>
          <a:stretch/>
        </p:blipFill>
        <p:spPr>
          <a:xfrm>
            <a:off x="6537225" y="3068600"/>
            <a:ext cx="4917225" cy="3079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609600" y="433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600"/>
          </a:p>
        </p:txBody>
      </p:sp>
      <p:sp>
        <p:nvSpPr>
          <p:cNvPr id="128" name="Google Shape;128;p16"/>
          <p:cNvSpPr txBox="1"/>
          <p:nvPr/>
        </p:nvSpPr>
        <p:spPr>
          <a:xfrm>
            <a:off x="609600" y="2533653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6"/>
          <p:cNvGraphicFramePr/>
          <p:nvPr/>
        </p:nvGraphicFramePr>
        <p:xfrm>
          <a:off x="143723" y="11863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{63C3E6CA-E18C-4B08-AF8B-5DDBAD871B99}</a:tableStyleId>
              </a:tblPr>
              <a:tblGrid>
                <a:gridCol w="4009200"/>
                <a:gridCol w="3903900"/>
                <a:gridCol w="3982875"/>
              </a:tblGrid>
              <a:tr h="113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1. FEASIBILITY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19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Core Viability &amp; Operational Foundation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91450" marL="91450" anchor="ctr">
                    <a:solidFill>
                      <a:srgbClr val="1D5B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2. VIABILITY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19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Execution Risks &amp; Future Sustainability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91450" marL="91450" anchor="ctr">
                    <a:solidFill>
                      <a:srgbClr val="2AAA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12365C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3. BUSINESS POTENTIAL &amp; SCALABILITY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91450" marL="91450" anchor="ctr">
                    <a:solidFill>
                      <a:srgbClr val="D3AE48"/>
                    </a:solidFill>
                  </a:tcPr>
                </a:tc>
              </a:tr>
              <a:tr h="113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Legal &amp; Regulatory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Helps identify compliance issues as per Legal Metrology Rules for packaged commodities.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Marathi OCR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Accuracy can be low with different fonts, glare, or curved surfaces on packages.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Scalability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Can be used for different product categories across Maharashtra and later expand to other states.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</a:tr>
              <a:tr h="113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Economic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Low initial MVP cost and can be scaled gradually using OCR and LLM technology.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Legal Notice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Automatic notices should not be sent directly; officer review is needed for proper legal process.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Efficiency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Reduces manual inspection work, speeds up enforcement, and helps officers perform more compliance checks.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</a:tr>
              <a:tr h="113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Social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Reduces officers' manual work and improves enforcement.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Evidence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Uses a hash-based evidence log for auditability and security.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Use Cases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Works for various packaged product categories such as food, FMCG, cosmetics, etc.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FFFFFF"/>
                    </a:solidFill>
                  </a:tcPr>
                </a:tc>
              </a:tr>
              <a:tr h="113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Technology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Uses a modular pipeline based on open-source components, so each part can be tested independently.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Improvement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Continuously retrain models to improve accuracy over time.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  <a:t>Revenue Models</a:t>
                      </a:r>
                      <a:br>
                        <a:rPr b="1" lang="en-US" sz="1600" u="none" cap="none" strike="noStrike">
                          <a:solidFill>
                            <a:srgbClr val="12365C"/>
                          </a:solidFill>
                        </a:rPr>
                      </a:br>
                      <a:r>
                        <a:rPr lang="en-US" sz="1410" u="none" cap="none" strike="noStrike">
                          <a:solidFill>
                            <a:srgbClr val="26303A"/>
                          </a:solidFill>
                        </a:rPr>
                        <a:t>Government licensing • Business subscription • Premium analytics</a:t>
                      </a:r>
                      <a:endParaRPr sz="1900"/>
                    </a:p>
                  </a:txBody>
                  <a:tcPr marT="54875" marB="45725" marR="128025" marL="128025" anchor="ctr">
                    <a:solidFill>
                      <a:srgbClr val="EFF7FA"/>
                    </a:solidFill>
                  </a:tcPr>
                </a:tc>
              </a:tr>
            </a:tbl>
          </a:graphicData>
        </a:graphic>
      </p:graphicFrame>
      <p:pic>
        <p:nvPicPr>
          <p:cNvPr id="132" name="Google Shape;132;p16" title="High-End Logo with Geometric 'N' Emblem.png"/>
          <p:cNvPicPr preferRelativeResize="0"/>
          <p:nvPr/>
        </p:nvPicPr>
        <p:blipFill rotWithShape="1">
          <a:blip r:embed="rId4">
            <a:alphaModFix/>
          </a:blip>
          <a:srcRect b="25893" l="0" r="0" t="0"/>
          <a:stretch/>
        </p:blipFill>
        <p:spPr>
          <a:xfrm>
            <a:off x="207375" y="1526"/>
            <a:ext cx="1361375" cy="9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700"/>
          </a:p>
        </p:txBody>
      </p:sp>
      <p:sp>
        <p:nvSpPr>
          <p:cNvPr id="139" name="Google Shape;139;p17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7"/>
          <p:cNvGraphicFramePr/>
          <p:nvPr/>
        </p:nvGraphicFramePr>
        <p:xfrm>
          <a:off x="587670" y="1101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{63C3E6CA-E18C-4B08-AF8B-5DDBAD871B99}</a:tableStyleId>
              </a:tblPr>
              <a:tblGrid>
                <a:gridCol w="3672225"/>
                <a:gridCol w="3672225"/>
                <a:gridCol w="3672225"/>
              </a:tblGrid>
              <a:tr h="58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IMPACT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109725" marL="109725" anchor="ctr">
                    <a:solidFill>
                      <a:srgbClr val="1D5B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BENEFITS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109725" marL="109725" anchor="ctr">
                    <a:solidFill>
                      <a:srgbClr val="2AAA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BEFORE → AFTER</a:t>
                      </a:r>
                      <a:endParaRPr sz="19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109725" marL="109725" anchor="ctr">
                    <a:solidFill>
                      <a:srgbClr val="24919D"/>
                    </a:solidFill>
                  </a:tcPr>
                </a:tc>
              </a:tr>
              <a:tr h="126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Faster Inspection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Reduces manual effort and inspection time through automated product label checking.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Manual Work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Automates label verification and report generation for enforcement officers.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label checking — Hours  →  Automated verification — Minutes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</a:tr>
              <a:tr h="126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Accurate Violation Detection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OCR and AI to identify missing or incorrect declarations accurately.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Digital &amp; Easy Record Management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Stores inspection results digitally for easy access to product history and reports.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Quality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Inconsistent data / low accuracy  →  AI-powered / high accuracy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7F9FC"/>
                    </a:solidFill>
                  </a:tcPr>
                </a:tc>
              </a:tr>
              <a:tr h="82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Better Consumer Protection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Helps ensure packaged products provide correct and required information to consumers.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Promotes Regulatory Compliance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Encourages manufacturers and sellers to follow packaging and labeling requirements.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Records &amp; Retrieval</a:t>
                      </a:r>
                      <a:br>
                        <a:rPr b="1" lang="en-US" sz="1620" u="none" cap="none" strike="noStrike">
                          <a:solidFill>
                            <a:srgbClr val="1236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4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Disorganized archives / slow retrieval  →  Digital records / instant access</a:t>
                      </a:r>
                      <a:endParaRPr sz="1900"/>
                    </a:p>
                  </a:txBody>
                  <a:tcPr marT="64000" marB="64000" marR="128025" marL="146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16178" r="0" t="0"/>
          <a:stretch/>
        </p:blipFill>
        <p:spPr>
          <a:xfrm>
            <a:off x="1365775" y="5260200"/>
            <a:ext cx="8802801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High-End Logo with Geometric 'N' Emblem.png"/>
          <p:cNvPicPr preferRelativeResize="0"/>
          <p:nvPr/>
        </p:nvPicPr>
        <p:blipFill rotWithShape="1">
          <a:blip r:embed="rId5">
            <a:alphaModFix/>
          </a:blip>
          <a:srcRect b="25893" l="0" r="0" t="0"/>
          <a:stretch/>
        </p:blipFill>
        <p:spPr>
          <a:xfrm>
            <a:off x="76875" y="32751"/>
            <a:ext cx="1361375" cy="9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500"/>
          </a:p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3700750" y="3031200"/>
            <a:ext cx="771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154" name="Google Shape;154;p18"/>
          <p:cNvGraphicFramePr/>
          <p:nvPr/>
        </p:nvGraphicFramePr>
        <p:xfrm>
          <a:off x="-2" y="1312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{63C3E6CA-E18C-4B08-AF8B-5DDBAD871B99}</a:tableStyleId>
              </a:tblPr>
              <a:tblGrid>
                <a:gridCol w="694025"/>
                <a:gridCol w="2458050"/>
                <a:gridCol w="1947175"/>
                <a:gridCol w="3875000"/>
                <a:gridCol w="3055675"/>
              </a:tblGrid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YEAR</a:t>
                      </a:r>
                      <a:endParaRPr sz="18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45725" marL="64000">
                    <a:solidFill>
                      <a:srgbClr val="123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RESEARCH / STUDY</a:t>
                      </a:r>
                      <a:endParaRPr sz="18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45725" marL="64000">
                    <a:solidFill>
                      <a:srgbClr val="123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FOCUS</a:t>
                      </a:r>
                      <a:endParaRPr sz="18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45725" marL="64000">
                    <a:solidFill>
                      <a:srgbClr val="123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KEY FINDING</a:t>
                      </a:r>
                      <a:endParaRPr sz="18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45725" marL="64000">
                    <a:solidFill>
                      <a:srgbClr val="123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LIMITATION / GAP</a:t>
                      </a:r>
                      <a:endParaRPr sz="18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45725" marB="45725" marR="45725" marL="64000">
                    <a:solidFill>
                      <a:srgbClr val="12365C"/>
                    </a:solidFill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5B9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69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Improving Scene Text Recognition for Indian Languages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Indian-language OCR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 diversity and transfer learning improve OCR performance.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F7E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legal compliance checking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5B9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69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Scene Text Recognition for Indian Languages – IIIT-H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Multilingual scene text OCR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26303A"/>
                          </a:solidFill>
                        </a:rPr>
                        <a:t>For </a:t>
                      </a: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scripts OCR techniques evaluate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EF7E2B"/>
                          </a:solidFill>
                        </a:rPr>
                        <a:t>No </a:t>
                      </a:r>
                      <a:r>
                        <a:rPr b="1" lang="en-US" sz="1600" u="none" cap="none" strike="noStrike">
                          <a:solidFill>
                            <a:srgbClr val="EF7E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Packaging / legal inspection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5B9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69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MRP &amp; Legal Metrology Study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MRP &amp; consumer protection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MRP-related legal issues analyse</a:t>
                      </a:r>
                      <a:r>
                        <a:rPr lang="en-US" sz="1600">
                          <a:solidFill>
                            <a:srgbClr val="26303A"/>
                          </a:solidFill>
                        </a:rPr>
                        <a:t>d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EF7E2B"/>
                          </a:solidFill>
                        </a:rPr>
                        <a:t>No </a:t>
                      </a:r>
                      <a:r>
                        <a:rPr b="1" lang="en-US" sz="1600" u="none" cap="none" strike="noStrike">
                          <a:solidFill>
                            <a:srgbClr val="EF7E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AI-based automated inspection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5B9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69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QR Codes in Food Packaging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QR / traceability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26303A"/>
                          </a:solidFill>
                        </a:rPr>
                        <a:t>Used for </a:t>
                      </a: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Packaging information and traceability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EF7E2B"/>
                          </a:solidFill>
                        </a:rPr>
                        <a:t>No </a:t>
                      </a:r>
                      <a:r>
                        <a:rPr b="1" lang="en-US" sz="1600" u="none" cap="none" strike="noStrike">
                          <a:solidFill>
                            <a:srgbClr val="EF7E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 Legal Metrology workflow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5F8FB"/>
                    </a:solidFill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5B9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69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Evaluating OCR on Food Packaging Labels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Packaging OCR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30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Different OCR models are Compare on packaging labels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EF7E2B"/>
                          </a:solidFill>
                        </a:rPr>
                        <a:t>No </a:t>
                      </a:r>
                      <a:r>
                        <a:rPr b="1" lang="en-US" sz="1600" u="none" cap="none" strike="noStrike">
                          <a:solidFill>
                            <a:srgbClr val="EF7E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Indian Legal Metrology rules integration </a:t>
                      </a:r>
                      <a:endParaRPr sz="2100"/>
                    </a:p>
                  </a:txBody>
                  <a:tcPr marT="36575" marB="45725" marR="45725" marL="6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/>
          <p:cNvSpPr/>
          <p:nvPr/>
        </p:nvSpPr>
        <p:spPr>
          <a:xfrm>
            <a:off x="460020" y="6058833"/>
            <a:ext cx="11109900" cy="896100"/>
          </a:xfrm>
          <a:prstGeom prst="roundRect">
            <a:avLst>
              <a:gd fmla="val 16667" name="adj"/>
            </a:avLst>
          </a:prstGeom>
          <a:solidFill>
            <a:srgbClr val="EFF7FA"/>
          </a:solidFill>
          <a:ln cap="flat" cmpd="sng" w="19050">
            <a:solidFill>
              <a:srgbClr val="2AAA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64575" spcFirstLastPara="1" rIns="146300" wrap="square" tIns="82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D5B97"/>
                </a:solidFill>
                <a:latin typeface="Arial"/>
                <a:ea typeface="Arial"/>
                <a:cs typeface="Arial"/>
                <a:sym typeface="Arial"/>
              </a:rPr>
              <a:t>RESEARCH GAP  </a:t>
            </a:r>
            <a:r>
              <a:rPr b="0" i="0" lang="en-US" sz="1460" u="none" cap="none" strike="noStrike">
                <a:solidFill>
                  <a:srgbClr val="26303A"/>
                </a:solidFill>
                <a:latin typeface="Arial"/>
                <a:ea typeface="Arial"/>
                <a:cs typeface="Arial"/>
                <a:sym typeface="Arial"/>
              </a:rPr>
              <a:t>Existing research focuses mainly on OCR, packaging text extraction, MRP/legal issues, or QR-based traceability individually. </a:t>
            </a:r>
            <a:r>
              <a:rPr b="1" lang="en-US" sz="1460" u="sng">
                <a:solidFill>
                  <a:schemeClr val="hlink"/>
                </a:solidFill>
                <a:hlinkClick r:id="rId4"/>
              </a:rPr>
              <a:t>PackScan Bharat</a:t>
            </a:r>
            <a:r>
              <a:rPr b="0" i="0" lang="en-US" sz="1460" u="none" cap="none" strike="noStrike">
                <a:solidFill>
                  <a:srgbClr val="26303A"/>
                </a:solidFill>
                <a:latin typeface="Arial"/>
                <a:ea typeface="Arial"/>
                <a:cs typeface="Arial"/>
                <a:sym typeface="Arial"/>
              </a:rPr>
              <a:t> integrates multilingual OCR + Legal Metrology rule engine + evidence capture + violation reporting into a single inspection workflow.</a:t>
            </a:r>
            <a:endParaRPr sz="1900"/>
          </a:p>
        </p:txBody>
      </p:sp>
      <p:pic>
        <p:nvPicPr>
          <p:cNvPr id="156" name="Google Shape;156;p18" title="High-End Logo with Geometric 'N' Emblem.png"/>
          <p:cNvPicPr preferRelativeResize="0"/>
          <p:nvPr/>
        </p:nvPicPr>
        <p:blipFill rotWithShape="1">
          <a:blip r:embed="rId5">
            <a:alphaModFix/>
          </a:blip>
          <a:srcRect b="25893" l="0" r="0" t="0"/>
          <a:stretch/>
        </p:blipFill>
        <p:spPr>
          <a:xfrm>
            <a:off x="207375" y="1526"/>
            <a:ext cx="1361375" cy="9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